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32ee5bac344029" /><Relationship Type="http://schemas.openxmlformats.org/officeDocument/2006/relationships/extended-properties" Target="/docProps/app.xml" Id="Rba67bba562704cbb" /><Relationship Type="http://schemas.openxmlformats.org/officeDocument/2006/relationships/officeDocument" Target="/ppt/presentation.xml" Id="R1c3cfe6ad6aa42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a583c2f3e049c9"/>
  </p:sldMasterIdLst>
  <p:notesMasterIdLst>
    <p:notesMasterId xmlns:r="http://schemas.openxmlformats.org/officeDocument/2006/relationships" r:id="R1d2de2d665b24d63"/>
  </p:notesMasterIdLst>
  <p:sldIdLst>
    <p:sldId xmlns:r="http://schemas.openxmlformats.org/officeDocument/2006/relationships" id="256" r:id="Rf345efc7a06b427a"/>
    <p:sldId xmlns:r="http://schemas.openxmlformats.org/officeDocument/2006/relationships" id="257" r:id="Rcea70ce3094941ab"/>
    <p:sldId xmlns:r="http://schemas.openxmlformats.org/officeDocument/2006/relationships" id="258" r:id="R33b25b10b8c74d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e802a7c8b4e52" /><Relationship Type="http://schemas.openxmlformats.org/officeDocument/2006/relationships/slideMaster" Target="/ppt/slideMasters/slideMaster1.xml" Id="Ra7a583c2f3e049c9" /><Relationship Type="http://schemas.openxmlformats.org/officeDocument/2006/relationships/notesMaster" Target="/ppt/notesMasters/notesMaster1.xml" Id="R1d2de2d665b24d63" /><Relationship Type="http://schemas.openxmlformats.org/officeDocument/2006/relationships/presProps" Target="/ppt/presProps.xml" Id="R1b870947d42041ef" /><Relationship Type="http://schemas.openxmlformats.org/officeDocument/2006/relationships/tableStyles" Target="/ppt/tableStyles.xml" Id="Rce052b6ede2e417a" /><Relationship Type="http://schemas.openxmlformats.org/officeDocument/2006/relationships/slide" Target="/ppt/slides/slide1.xml" Id="Rf345efc7a06b427a" /><Relationship Type="http://schemas.openxmlformats.org/officeDocument/2006/relationships/slide" Target="/ppt/slides/slide2.xml" Id="Rcea70ce3094941ab" /><Relationship Type="http://schemas.openxmlformats.org/officeDocument/2006/relationships/slide" Target="/ppt/slides/slide3.xml" Id="R33b25b10b8c7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27cbaeba594e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2053b48c894d44" /><Relationship Type="http://schemas.openxmlformats.org/officeDocument/2006/relationships/notesMaster" Target="/ppt/notesMasters/notesMaster1.xml" Id="R311206bd0b4741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ca161ace734dfa" /><Relationship Type="http://schemas.openxmlformats.org/officeDocument/2006/relationships/notesMaster" Target="/ppt/notesMasters/notesMaster1.xml" Id="R52ddf2083c954a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83d36cadaa42fe" /><Relationship Type="http://schemas.openxmlformats.org/officeDocument/2006/relationships/notesMaster" Target="/ppt/notesMasters/notesMaster1.xml" Id="Redb8e68fc7a249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/Users/parsaghadermarzi/Desktop/Academics/Projects/ZipStrain/README.md</a:t>
            </a:r>
          </a:p>
          <a:p xmlns:a="http://schemas.openxmlformats.org/drawingml/2006/main">
            <a:r>
              <a:t>- /Users/parsaghadermarzi/Desktop/Academics/Projects/ZipStrain/docs/Tutorial.md</a:t>
            </a:r>
          </a:p>
          <a:p xmlns:a="http://schemas.openxmlformats.org/drawingml/2006/main">
            <a:r>
              <a:t>- /Users/parsaghadermarzi/Desktop/Academics/Projects/ZipStrain/docs/expected_output.md</a:t>
            </a:r>
          </a:p>
          <a:p xmlns:a="http://schemas.openxmlformats.org/drawingml/2006/main">
            <a:r>
              <a:t>- /Users/parsaghadermarzi/Desktop/Academics/Projects/ZipStrain/zipstrain/src/zipstrain/utils.py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/Users/parsaghadermarzi/Desktop/Academics/Projects/ZipStrain/README.md</a:t>
            </a:r>
          </a:p>
          <a:p xmlns:a="http://schemas.openxmlformats.org/drawingml/2006/main">
            <a:r>
              <a:t>- /Users/parsaghadermarzi/Desktop/Academics/Projects/ZipStrain/docs/expected_output.md</a:t>
            </a:r>
          </a:p>
          <a:p xmlns:a="http://schemas.openxmlformats.org/drawingml/2006/main">
            <a:r>
              <a:t>- /Users/parsaghadermarzi/Desktop/Academics/Projects/ZipStrain/docs/usermanual.md</a:t>
            </a:r>
          </a:p>
          <a:p xmlns:a="http://schemas.openxmlformats.org/drawingml/2006/main">
            <a:r>
              <a:t>- /Users/parsaghadermarzi/Desktop/Academics/Projects/ZipStrain/zipstrain/src/zipstrain/profile.py</a:t>
            </a:r>
          </a:p>
          <a:p xmlns:a="http://schemas.openxmlformats.org/drawingml/2006/main">
            <a:r>
              <a:t>- /Users/parsaghadermarzi/Desktop/Academics/Projects/ZipStrain/zipstrain/src/zipstrain/cli.py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/Users/parsaghadermarzi/Desktop/Academics/Projects/ZipStrain/docs/Tutorial.md</a:t>
            </a:r>
          </a:p>
          <a:p xmlns:a="http://schemas.openxmlformats.org/drawingml/2006/main">
            <a:r>
              <a:t>- /Users/parsaghadermarzi/Desktop/Academics/Projects/ZipStrain/docs/expected_output.md</a:t>
            </a:r>
          </a:p>
          <a:p xmlns:a="http://schemas.openxmlformats.org/drawingml/2006/main">
            <a:r>
              <a:t>- /Users/parsaghadermarzi/Desktop/Academics/Projects/ZipStrain/zipstrain/src/zipstrain/compare.py</a:t>
            </a:r>
          </a:p>
          <a:p xmlns:a="http://schemas.openxmlformats.org/drawingml/2006/main">
            <a:r>
              <a:t>- /Users/parsaghadermarzi/Desktop/Academics/Projects/ZipStrain/zipstrain/src/zipstrain/matrix_pairs.py</a:t>
            </a:r>
          </a:p>
          <a:p xmlns:a="http://schemas.openxmlformats.org/drawingml/2006/main">
            <a:r>
              <a:t>- Caveat supplied by the presenter: overlapping-gene handling is not yet 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32e4dbf9643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16d1e3a1c6493d" /><Relationship Type="http://schemas.openxmlformats.org/officeDocument/2006/relationships/slideLayout" Target="/ppt/slideLayouts/slideLayout1.xml" Id="Rb80e992192154f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0e992192154f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aa2eff68f4a28" /><Relationship Type="http://schemas.openxmlformats.org/officeDocument/2006/relationships/notesSlide" Target="/ppt/notesSlides/notesSlide1.xml" Id="R9feaf00a96d0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3b76502284edf" /><Relationship Type="http://schemas.openxmlformats.org/officeDocument/2006/relationships/notesSlide" Target="/ppt/notesSlides/notesSlide2.xml" Id="R40b14cd58f0945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c46108aaf4045" /><Relationship Type="http://schemas.openxmlformats.org/officeDocument/2006/relationships/notesSlide" Target="/ppt/notesSlides/notesSlide3.xml" Id="Rf5e014e075044d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ccent-rule-1">
            <a:extLst xmlns:a="http://schemas.openxmlformats.org/drawingml/2006/main">
              <a:ext uri="{FF2B5EF4-FFF2-40B4-BE49-F238E27FC236}">
                <a16:creationId xmlns:a16="http://schemas.microsoft.com/office/drawing/2014/main" id="{37BB7BD7-A264-4FC1-98D0-7AEF8E39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90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1">
            <a:extLst xmlns:a="http://schemas.openxmlformats.org/drawingml/2006/main">
              <a:ext uri="{FF2B5EF4-FFF2-40B4-BE49-F238E27FC236}">
                <a16:creationId xmlns:a16="http://schemas.microsoft.com/office/drawing/2014/main" id="{5E53F2FC-A1B1-40FC-8601-8DDA002C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34125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ZIPSTRAIN  · 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DD18DD-D088-47F4-9713-08B980BE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9575"/>
            <a:ext cx="11404568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spcAft>
                <a:spcPts val="0"/>
              </a:spcAft>
              <a:buNone/>
              <a:defRPr sz="31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Coverage becomes an interpretable abundance signal</a:t>
            </a:r>
          </a:p>
        </p:txBody>
      </p:sp>
      <p:sp>
        <p:nvSpPr>
          <p:cNvPr id="4" name="subtitle-marker">
            <a:extLst xmlns:a="http://schemas.openxmlformats.org/drawingml/2006/main">
              <a:ext uri="{FF2B5EF4-FFF2-40B4-BE49-F238E27FC236}">
                <a16:creationId xmlns:a16="http://schemas.microsoft.com/office/drawing/2014/main" id="{9415646E-05E6-4BE1-AEF0-8503BB95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01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A6A5C6-A47B-4DD7-A242-6DB3F238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62050"/>
            <a:ext cx="1062037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Sorted alignments are summarized over genomic features. Depth estimates abundance, while breadth and coverage uniformity help distinguish true low-abundance genomes from sparse off-target mapping.</a:t>
            </a:r>
          </a:p>
        </p:txBody>
      </p:sp>
      <p:sp>
        <p:nvSpPr>
          <p:cNvPr id="6" name="coverage-card-panel">
            <a:extLst xmlns:a="http://schemas.openxmlformats.org/drawingml/2006/main">
              <a:ext uri="{FF2B5EF4-FFF2-40B4-BE49-F238E27FC236}">
                <a16:creationId xmlns:a16="http://schemas.microsoft.com/office/drawing/2014/main" id="{5E48154F-E9E5-45BC-8C0A-85BD7804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76525"/>
            <a:ext cx="3568732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BCC7C3"/>
            </a:solidFill>
            <a:prstDash val="solid"/>
          </a:ln>
        </p:spPr>
      </p:sp>
      <p:sp>
        <p:nvSpPr>
          <p:cNvPr id="7" name="coverage-card-accent">
            <a:extLst xmlns:a="http://schemas.openxmlformats.org/drawingml/2006/main">
              <a:ext uri="{FF2B5EF4-FFF2-40B4-BE49-F238E27FC236}">
                <a16:creationId xmlns:a16="http://schemas.microsoft.com/office/drawing/2014/main" id="{9BB4C274-A206-4694-B4A3-A9ECAFC4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43" y="3000375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age-card-label">
            <a:extLst xmlns:a="http://schemas.openxmlformats.org/drawingml/2006/main">
              <a:ext uri="{FF2B5EF4-FFF2-40B4-BE49-F238E27FC236}">
                <a16:creationId xmlns:a16="http://schemas.microsoft.com/office/drawing/2014/main" id="{B8407768-7942-4178-8DA0-93B0E6C4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43" y="32194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007F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F73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</p:txBody>
      </p:sp>
      <p:sp>
        <p:nvSpPr>
          <p:cNvPr id="9" name="coverage-card-headline">
            <a:extLst xmlns:a="http://schemas.openxmlformats.org/drawingml/2006/main">
              <a:ext uri="{FF2B5EF4-FFF2-40B4-BE49-F238E27FC236}">
                <a16:creationId xmlns:a16="http://schemas.microsoft.com/office/drawing/2014/main" id="{6CABC4AE-E335-489E-8AEB-81F96064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43" y="3619500"/>
            <a:ext cx="295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24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10" name="coverage-card-detail">
            <a:extLst xmlns:a="http://schemas.openxmlformats.org/drawingml/2006/main">
              <a:ext uri="{FF2B5EF4-FFF2-40B4-BE49-F238E27FC236}">
                <a16:creationId xmlns:a16="http://schemas.microsoft.com/office/drawing/2014/main" id="{A19B2912-6DA4-4011-97C8-DE0BC25C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43" y="4629150"/>
            <a:ext cx="2952750" cy="923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Mean per-base depth supports coverage-ratio abundance after genomes are called present.</a:t>
            </a:r>
          </a:p>
        </p:txBody>
      </p:sp>
      <p:sp>
        <p:nvSpPr>
          <p:cNvPr id="11" name="breadth-card-panel">
            <a:extLst xmlns:a="http://schemas.openxmlformats.org/drawingml/2006/main">
              <a:ext uri="{FF2B5EF4-FFF2-40B4-BE49-F238E27FC236}">
                <a16:creationId xmlns:a16="http://schemas.microsoft.com/office/drawing/2014/main" id="{5155AEAC-9B9B-4CDB-8695-4CB13583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76525"/>
            <a:ext cx="3568732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EEF2F0"/>
          </a:solidFill>
          <a:ln xmlns:a="http://schemas.openxmlformats.org/drawingml/2006/main" w="9525">
            <a:solidFill>
              <a:srgbClr val="BCC7C3"/>
            </a:solidFill>
            <a:prstDash val="solid"/>
          </a:ln>
        </p:spPr>
      </p:sp>
      <p:sp>
        <p:nvSpPr>
          <p:cNvPr id="12" name="breadth-card-accent">
            <a:extLst xmlns:a="http://schemas.openxmlformats.org/drawingml/2006/main">
              <a:ext uri="{FF2B5EF4-FFF2-40B4-BE49-F238E27FC236}">
                <a16:creationId xmlns:a16="http://schemas.microsoft.com/office/drawing/2014/main" id="{4ECF94F6-2296-4475-ADE4-DF0B0E49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57" y="3000375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eadth-card-label">
            <a:extLst xmlns:a="http://schemas.openxmlformats.org/drawingml/2006/main">
              <a:ext uri="{FF2B5EF4-FFF2-40B4-BE49-F238E27FC236}">
                <a16:creationId xmlns:a16="http://schemas.microsoft.com/office/drawing/2014/main" id="{BC69A429-5F5E-4B88-A089-435C8BC8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57" y="32194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EXTENT</a:t>
            </a:r>
          </a:p>
        </p:txBody>
      </p:sp>
      <p:sp>
        <p:nvSpPr>
          <p:cNvPr id="14" name="breadth-card-headline">
            <a:extLst xmlns:a="http://schemas.openxmlformats.org/drawingml/2006/main">
              <a:ext uri="{FF2B5EF4-FFF2-40B4-BE49-F238E27FC236}">
                <a16:creationId xmlns:a16="http://schemas.microsoft.com/office/drawing/2014/main" id="{3A1F76DE-78DB-4BF5-8E07-2314C702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57" y="3619500"/>
            <a:ext cx="295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24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Breadth</a:t>
            </a:r>
          </a:p>
        </p:txBody>
      </p:sp>
      <p:sp>
        <p:nvSpPr>
          <p:cNvPr id="15" name="breadth-card-detail">
            <a:extLst xmlns:a="http://schemas.openxmlformats.org/drawingml/2006/main">
              <a:ext uri="{FF2B5EF4-FFF2-40B4-BE49-F238E27FC236}">
                <a16:creationId xmlns:a16="http://schemas.microsoft.com/office/drawing/2014/main" id="{167940DE-449F-4D07-898F-27E84765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957" y="4629150"/>
            <a:ext cx="2952750" cy="923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The fraction of a genome or gene observed, not just the number of mapped reads.</a:t>
            </a:r>
          </a:p>
        </p:txBody>
      </p:sp>
      <p:sp>
        <p:nvSpPr>
          <p:cNvPr id="16" name="presence-card-panel">
            <a:extLst xmlns:a="http://schemas.openxmlformats.org/drawingml/2006/main">
              <a:ext uri="{FF2B5EF4-FFF2-40B4-BE49-F238E27FC236}">
                <a16:creationId xmlns:a16="http://schemas.microsoft.com/office/drawing/2014/main" id="{6F448B89-F465-49AD-9F62-E4F42C04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676525"/>
            <a:ext cx="3568732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E3ECFF"/>
          </a:solidFill>
          <a:ln xmlns:a="http://schemas.openxmlformats.org/drawingml/2006/main" w="9525">
            <a:solidFill>
              <a:srgbClr val="BCC7C3"/>
            </a:solidFill>
            <a:prstDash val="solid"/>
          </a:ln>
        </p:spPr>
      </p:sp>
      <p:sp>
        <p:nvSpPr>
          <p:cNvPr id="17" name="presence-card-accent">
            <a:extLst xmlns:a="http://schemas.openxmlformats.org/drawingml/2006/main">
              <a:ext uri="{FF2B5EF4-FFF2-40B4-BE49-F238E27FC236}">
                <a16:creationId xmlns:a16="http://schemas.microsoft.com/office/drawing/2014/main" id="{3911427C-450D-4F9C-963A-251C62CC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542" y="3000375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esence-card-label">
            <a:extLst xmlns:a="http://schemas.openxmlformats.org/drawingml/2006/main">
              <a:ext uri="{FF2B5EF4-FFF2-40B4-BE49-F238E27FC236}">
                <a16:creationId xmlns:a16="http://schemas.microsoft.com/office/drawing/2014/main" id="{6751E71D-B1FA-4F51-B91E-02B40E98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542" y="32194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19" name="presence-card-headline">
            <a:extLst xmlns:a="http://schemas.openxmlformats.org/drawingml/2006/main">
              <a:ext uri="{FF2B5EF4-FFF2-40B4-BE49-F238E27FC236}">
                <a16:creationId xmlns:a16="http://schemas.microsoft.com/office/drawing/2014/main" id="{F5B7C414-1263-493E-B569-031DFFF1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542" y="3619500"/>
            <a:ext cx="2952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24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BER + FUG</a:t>
            </a:r>
          </a:p>
        </p:txBody>
      </p:sp>
      <p:sp>
        <p:nvSpPr>
          <p:cNvPr id="20" name="presence-card-detail">
            <a:extLst xmlns:a="http://schemas.openxmlformats.org/drawingml/2006/main">
              <a:ext uri="{FF2B5EF4-FFF2-40B4-BE49-F238E27FC236}">
                <a16:creationId xmlns:a16="http://schemas.microsoft.com/office/drawing/2014/main" id="{75F4B72A-BC31-4F0B-8887-C85CF576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542" y="4629150"/>
            <a:ext cx="2952750" cy="923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Breadth-versus-depth and uniformity metrics support an explicit present / absent call.</a:t>
            </a:r>
          </a:p>
        </p:txBody>
      </p:sp>
      <p:sp>
        <p:nvSpPr>
          <p:cNvPr id="21" name="slide1-output-line">
            <a:extLst xmlns:a="http://schemas.openxmlformats.org/drawingml/2006/main">
              <a:ext uri="{FF2B5EF4-FFF2-40B4-BE49-F238E27FC236}">
                <a16:creationId xmlns:a16="http://schemas.microsoft.com/office/drawing/2014/main" id="{219E1C66-EFE4-419D-A777-6245C3A2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19800"/>
            <a:ext cx="962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OUTPUT  ·  one editable Parquet row per genome or gene: coverage, breadth, BER/FUG, presence and mapped-read summaries</a:t>
            </a:r>
          </a:p>
        </p:txBody>
      </p:sp>
    </p:spTree>
    <p:extLst>
      <p:ext uri="{BB962C8B-B14F-4D97-AF65-F5344CB8AC3E}">
        <p14:creationId xmlns:p14="http://schemas.microsoft.com/office/powerpoint/2010/main" val="371502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-rule-2">
            <a:extLst xmlns:a="http://schemas.openxmlformats.org/drawingml/2006/main">
              <a:ext uri="{FF2B5EF4-FFF2-40B4-BE49-F238E27FC236}">
                <a16:creationId xmlns:a16="http://schemas.microsoft.com/office/drawing/2014/main" id="{D9E2A522-612A-4D97-8FD1-57D9A24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90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8C0B82F4-24A7-4FBE-A10E-3D58AD5C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34125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ZIPSTRAIN  ·  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205DDB-D090-4B3F-993F-62E9B400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9575"/>
            <a:ext cx="11404568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spcAft>
                <a:spcPts val="0"/>
              </a:spcAft>
              <a:buNone/>
              <a:defRPr sz="31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Reference-aware profiles make SNPs explicit</a:t>
            </a:r>
          </a:p>
        </p:txBody>
      </p:sp>
      <p:sp>
        <p:nvSpPr>
          <p:cNvPr id="4" name="subtitle-marker">
            <a:extLst xmlns:a="http://schemas.openxmlformats.org/drawingml/2006/main">
              <a:ext uri="{FF2B5EF4-FFF2-40B4-BE49-F238E27FC236}">
                <a16:creationId xmlns:a16="http://schemas.microsoft.com/office/drawing/2014/main" id="{26824255-3471-4509-8205-ECCE26EE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01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F4E956-1AC5-4B88-99B3-33F65C38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62050"/>
            <a:ext cx="1062037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When a reference FASTA is supplied, ZipStrain records the reference base beside A/C/G/T evidence. Quality, read-ANI, null-model and allele-frequency filters are applied before variant output.</a:t>
            </a:r>
          </a:p>
        </p:txBody>
      </p:sp>
      <p:cxnSp>
        <p:nvCxnSpPr>
          <p:cNvPr id="26" name="timeline-rule"/>
          <p:cNvCxnSpPr/>
          <p:nvPr/>
        </p:nvCxnSpPr>
        <p:spPr>
          <a:xfrm xmlns:a="http://schemas.openxmlformats.org/drawingml/2006/main">
            <a:off x="393668" y="3343275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C7C3"/>
            </a:solidFill>
            <a:prstDash val="solid"/>
          </a:ln>
        </p:spPr>
      </p:cxnSp>
      <p:sp>
        <p:nvSpPr>
          <p:cNvPr id="7" name="reference-required-note">
            <a:extLst xmlns:a="http://schemas.openxmlformats.org/drawingml/2006/main">
              <a:ext uri="{FF2B5EF4-FFF2-40B4-BE49-F238E27FC236}">
                <a16:creationId xmlns:a16="http://schemas.microsoft.com/office/drawing/2014/main" id="{CAF97E90-0A2E-4F17-9CBF-02344E1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4667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E7E5"/>
          </a:solidFill>
          <a:ln xmlns:a="http://schemas.openxmlformats.org/drawingml/2006/main" w="9525">
            <a:solidFill>
              <a:srgbClr val="E8B5B2"/>
            </a:solidFill>
            <a:prstDash val="solid"/>
          </a:ln>
        </p:spPr>
      </p:sp>
      <p:sp>
        <p:nvSpPr>
          <p:cNvPr id="8" name="reference-required-note-text">
            <a:extLst xmlns:a="http://schemas.openxmlformats.org/drawingml/2006/main">
              <a:ext uri="{FF2B5EF4-FFF2-40B4-BE49-F238E27FC236}">
                <a16:creationId xmlns:a16="http://schemas.microsoft.com/office/drawing/2014/main" id="{8046C461-3863-4386-9AB3-D547B9D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95525"/>
            <a:ext cx="426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0722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rPr>
              <a:t>No reference FASTA → no reference-base column or reference SNP table</a:t>
            </a:r>
          </a:p>
        </p:txBody>
      </p:sp>
      <p:sp>
        <p:nvSpPr>
          <p:cNvPr id="9" name="snp-step-input-label">
            <a:extLst xmlns:a="http://schemas.openxmlformats.org/drawingml/2006/main">
              <a:ext uri="{FF2B5EF4-FFF2-40B4-BE49-F238E27FC236}">
                <a16:creationId xmlns:a16="http://schemas.microsoft.com/office/drawing/2014/main" id="{E6DAA2C2-D41E-453B-B6F1-3F787E49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384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rPr>
              <a:t>1  ·  INPUT</a:t>
            </a:r>
          </a:p>
        </p:txBody>
      </p:sp>
      <p:sp>
        <p:nvSpPr>
          <p:cNvPr id="10" name="snp-step-input-dot">
            <a:extLst xmlns:a="http://schemas.openxmlformats.org/drawingml/2006/main">
              <a:ext uri="{FF2B5EF4-FFF2-40B4-BE49-F238E27FC236}">
                <a16:creationId xmlns:a16="http://schemas.microsoft.com/office/drawing/2014/main" id="{8E919CD5-8C05-4CB4-9E85-A1F07507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76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np-step-input-title">
            <a:extLst xmlns:a="http://schemas.openxmlformats.org/drawingml/2006/main">
              <a:ext uri="{FF2B5EF4-FFF2-40B4-BE49-F238E27FC236}">
                <a16:creationId xmlns:a16="http://schemas.microsoft.com/office/drawing/2014/main" id="{785373A0-3A0A-471A-A3CD-F60840B1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24275"/>
            <a:ext cx="3209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21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Reference + sorted BAM</a:t>
            </a:r>
          </a:p>
        </p:txBody>
      </p:sp>
      <p:sp>
        <p:nvSpPr>
          <p:cNvPr id="12" name="snp-step-input-body">
            <a:extLst xmlns:a="http://schemas.openxmlformats.org/drawingml/2006/main">
              <a:ext uri="{FF2B5EF4-FFF2-40B4-BE49-F238E27FC236}">
                <a16:creationId xmlns:a16="http://schemas.microsoft.com/office/drawing/2014/main" id="{41E3BC74-768A-43D0-AC27-E7CEDE2B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48175"/>
            <a:ext cx="3209925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mpileup captures per-position A/C/G/T counts and the reference base.</a:t>
            </a:r>
          </a:p>
        </p:txBody>
      </p:sp>
      <p:sp>
        <p:nvSpPr>
          <p:cNvPr id="13" name="snp-step-filter-label">
            <a:extLst xmlns:a="http://schemas.openxmlformats.org/drawingml/2006/main">
              <a:ext uri="{FF2B5EF4-FFF2-40B4-BE49-F238E27FC236}">
                <a16:creationId xmlns:a16="http://schemas.microsoft.com/office/drawing/2014/main" id="{CED974AC-E354-4E5A-B870-B5EE911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384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007F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F73"/>
                </a:solidFill>
                <a:latin typeface="Helvetica Neue"/>
                <a:ea typeface="Helvetica Neue"/>
                <a:cs typeface="Helvetica Neue"/>
              </a:rPr>
              <a:t>2  ·  EVIDENCE</a:t>
            </a:r>
          </a:p>
        </p:txBody>
      </p:sp>
      <p:sp>
        <p:nvSpPr>
          <p:cNvPr id="14" name="snp-step-filter-dot">
            <a:extLst xmlns:a="http://schemas.openxmlformats.org/drawingml/2006/main">
              <a:ext uri="{FF2B5EF4-FFF2-40B4-BE49-F238E27FC236}">
                <a16:creationId xmlns:a16="http://schemas.microsoft.com/office/drawing/2014/main" id="{82178355-B899-4665-BB8C-3EED36C8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276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np-step-filter-title">
            <a:extLst xmlns:a="http://schemas.openxmlformats.org/drawingml/2006/main">
              <a:ext uri="{FF2B5EF4-FFF2-40B4-BE49-F238E27FC236}">
                <a16:creationId xmlns:a16="http://schemas.microsoft.com/office/drawing/2014/main" id="{EBFA6555-F23C-4489-86DF-D757C85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724275"/>
            <a:ext cx="3209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21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Filter and classify</a:t>
            </a:r>
          </a:p>
        </p:txBody>
      </p:sp>
      <p:sp>
        <p:nvSpPr>
          <p:cNvPr id="16" name="snp-step-filter-body">
            <a:extLst xmlns:a="http://schemas.openxmlformats.org/drawingml/2006/main">
              <a:ext uri="{FF2B5EF4-FFF2-40B4-BE49-F238E27FC236}">
                <a16:creationId xmlns:a16="http://schemas.microsoft.com/office/drawing/2014/main" id="{2A2F6065-A331-4DB1-81EC-4C12DD99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4448175"/>
            <a:ext cx="3209925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MapQ, baseQ, read ANI, minimum coverage, null model and min_freq control support.</a:t>
            </a:r>
          </a:p>
        </p:txBody>
      </p:sp>
      <p:sp>
        <p:nvSpPr>
          <p:cNvPr id="17" name="snp-step-output-label">
            <a:extLst xmlns:a="http://schemas.openxmlformats.org/drawingml/2006/main">
              <a:ext uri="{FF2B5EF4-FFF2-40B4-BE49-F238E27FC236}">
                <a16:creationId xmlns:a16="http://schemas.microsoft.com/office/drawing/2014/main" id="{83677D96-E6FB-474F-91AE-8F12367B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8384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3  ·  OUTPUT</a:t>
            </a:r>
          </a:p>
        </p:txBody>
      </p:sp>
      <p:sp>
        <p:nvSpPr>
          <p:cNvPr id="18" name="snp-step-output-dot">
            <a:extLst xmlns:a="http://schemas.openxmlformats.org/drawingml/2006/main">
              <a:ext uri="{FF2B5EF4-FFF2-40B4-BE49-F238E27FC236}">
                <a16:creationId xmlns:a16="http://schemas.microsoft.com/office/drawing/2014/main" id="{34C5506F-D3F0-493F-9C28-CE030AB5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276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np-step-output-title">
            <a:extLst xmlns:a="http://schemas.openxmlformats.org/drawingml/2006/main">
              <a:ext uri="{FF2B5EF4-FFF2-40B4-BE49-F238E27FC236}">
                <a16:creationId xmlns:a16="http://schemas.microsoft.com/office/drawing/2014/main" id="{EE4778D3-126F-4AEC-858A-856C8F4C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724275"/>
            <a:ext cx="32099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0"/>
              </a:spcAft>
              <a:buNone/>
              <a:defRPr sz="21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SNVs ready for analysis</a:t>
            </a:r>
          </a:p>
        </p:txBody>
      </p:sp>
      <p:sp>
        <p:nvSpPr>
          <p:cNvPr id="20" name="snp-step-output-body">
            <a:extLst xmlns:a="http://schemas.openxmlformats.org/drawingml/2006/main">
              <a:ext uri="{FF2B5EF4-FFF2-40B4-BE49-F238E27FC236}">
                <a16:creationId xmlns:a16="http://schemas.microsoft.com/office/drawing/2014/main" id="{B8C94A67-A3A4-4136-AD6F-42D0B662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448175"/>
            <a:ext cx="3209925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Parquet or VCF; reference ANI and SNS/SNV summaries are aggregated by gene and genome.</a:t>
            </a:r>
          </a:p>
        </p:txBody>
      </p:sp>
    </p:spTree>
    <p:extLst>
      <p:ext uri="{BB962C8B-B14F-4D97-AF65-F5344CB8AC3E}">
        <p14:creationId xmlns:p14="http://schemas.microsoft.com/office/powerpoint/2010/main" val="1086099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rule-3">
            <a:extLst xmlns:a="http://schemas.openxmlformats.org/drawingml/2006/main">
              <a:ext uri="{FF2B5EF4-FFF2-40B4-BE49-F238E27FC236}">
                <a16:creationId xmlns:a16="http://schemas.microsoft.com/office/drawing/2014/main" id="{7E565F27-ED45-4AB4-9A5E-9B91D3D3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907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4344CF65-A710-471C-AAB9-1406F1E6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34125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0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ZIPSTRAIN  ·  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690A01-A1EF-445C-A89C-5EDAC012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9575"/>
            <a:ext cx="11404568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spcAft>
                <a:spcPts val="0"/>
              </a:spcAft>
              <a:buNone/>
              <a:defRPr sz="31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Pairwise comparison scales from one-off studies to cohorts</a:t>
            </a:r>
          </a:p>
        </p:txBody>
      </p:sp>
      <p:sp>
        <p:nvSpPr>
          <p:cNvPr id="4" name="subtitle-marker">
            <a:extLst xmlns:a="http://schemas.openxmlformats.org/drawingml/2006/main">
              <a:ext uri="{FF2B5EF4-FFF2-40B4-BE49-F238E27FC236}">
                <a16:creationId xmlns:a16="http://schemas.microsoft.com/office/drawing/2014/main" id="{F14B0BCA-2B9C-4E3C-99D4-FFE982F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001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8262C5-76E1-4B46-8B03-5ED39BEF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62050"/>
            <a:ext cx="1062037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Every sample pair can be summarized per genome or per gene. Outputs include shared callable positions, genome_ani (popANI, conANI or cosANI), longest shared runs and gene-level identity summaries.</a:t>
            </a:r>
          </a:p>
        </p:txBody>
      </p:sp>
      <p:sp>
        <p:nvSpPr>
          <p:cNvPr id="6" name="comparison-output-label">
            <a:extLst xmlns:a="http://schemas.openxmlformats.org/drawingml/2006/main">
              <a:ext uri="{FF2B5EF4-FFF2-40B4-BE49-F238E27FC236}">
                <a16:creationId xmlns:a16="http://schemas.microsoft.com/office/drawing/2014/main" id="{E2806176-BB89-4F23-BC03-3D4AFC77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ONE RESULT TABLE  ·  all_comparisons.parquet</a:t>
            </a:r>
          </a:p>
        </p:txBody>
      </p:sp>
      <p:cxnSp>
        <p:nvCxnSpPr>
          <p:cNvPr id="24" name="comparison-rule"/>
          <p:cNvCxnSpPr/>
          <p:nvPr/>
        </p:nvCxnSpPr>
        <p:spPr>
          <a:xfrm xmlns:a="http://schemas.openxmlformats.org/drawingml/2006/main">
            <a:off x="393668" y="2962275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CC7C3"/>
            </a:solidFill>
            <a:prstDash val="solid"/>
          </a:ln>
        </p:spPr>
      </p:cxnSp>
      <p:sp>
        <p:nvSpPr>
          <p:cNvPr id="8" name="standard-engine-panel">
            <a:extLst xmlns:a="http://schemas.openxmlformats.org/drawingml/2006/main">
              <a:ext uri="{FF2B5EF4-FFF2-40B4-BE49-F238E27FC236}">
                <a16:creationId xmlns:a16="http://schemas.microsoft.com/office/drawing/2014/main" id="{3A07437F-B0B2-4CC7-9416-ADE9716B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19450"/>
            <a:ext cx="55340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EF2F0"/>
          </a:solidFill>
          <a:ln xmlns:a="http://schemas.openxmlformats.org/drawingml/2006/main" w="9525">
            <a:solidFill>
              <a:srgbClr val="BCC7C3"/>
            </a:solidFill>
            <a:prstDash val="solid"/>
          </a:ln>
        </p:spPr>
      </p:sp>
      <p:sp>
        <p:nvSpPr>
          <p:cNvPr id="9" name="standard-engine-label">
            <a:extLst xmlns:a="http://schemas.openxmlformats.org/drawingml/2006/main">
              <a:ext uri="{FF2B5EF4-FFF2-40B4-BE49-F238E27FC236}">
                <a16:creationId xmlns:a16="http://schemas.microsoft.com/office/drawing/2014/main" id="{823A4312-709F-44AF-ADF2-5AFA652C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43" y="3467100"/>
            <a:ext cx="476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007F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7F73"/>
                </a:solidFill>
                <a:latin typeface="Helvetica Neue"/>
                <a:ea typeface="Helvetica Neue"/>
                <a:cs typeface="Helvetica Neue"/>
              </a:rPr>
              <a:t>STANDARD ENGINE</a:t>
            </a:r>
          </a:p>
        </p:txBody>
      </p:sp>
      <p:sp>
        <p:nvSpPr>
          <p:cNvPr id="10" name="standard-engine-title">
            <a:extLst xmlns:a="http://schemas.openxmlformats.org/drawingml/2006/main">
              <a:ext uri="{FF2B5EF4-FFF2-40B4-BE49-F238E27FC236}">
                <a16:creationId xmlns:a16="http://schemas.microsoft.com/office/drawing/2014/main" id="{8E9D5AA6-DEBB-4336-88B2-3832836C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43" y="381952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22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Many genomes at once</a:t>
            </a:r>
          </a:p>
        </p:txBody>
      </p:sp>
      <p:sp>
        <p:nvSpPr>
          <p:cNvPr id="11" name="standard-engine-detail">
            <a:extLst xmlns:a="http://schemas.openxmlformats.org/drawingml/2006/main">
              <a:ext uri="{FF2B5EF4-FFF2-40B4-BE49-F238E27FC236}">
                <a16:creationId xmlns:a16="http://schemas.microsoft.com/office/drawing/2014/main" id="{FF143231-DAED-4ADD-A953-A1E44D12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43" y="4391025"/>
            <a:ext cx="4762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Direct pairwise profile joins on CPU. Best for broad genome sets and bounded or one-off comparisons.</a:t>
            </a:r>
          </a:p>
        </p:txBody>
      </p:sp>
      <p:sp>
        <p:nvSpPr>
          <p:cNvPr id="12" name="matrix-engine-panel">
            <a:extLst xmlns:a="http://schemas.openxmlformats.org/drawingml/2006/main">
              <a:ext uri="{FF2B5EF4-FFF2-40B4-BE49-F238E27FC236}">
                <a16:creationId xmlns:a16="http://schemas.microsoft.com/office/drawing/2014/main" id="{2244E427-C3CC-4069-BFCA-BEFC28AF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219450"/>
            <a:ext cx="553402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3ECFF"/>
          </a:solidFill>
          <a:ln xmlns:a="http://schemas.openxmlformats.org/drawingml/2006/main" w="9525">
            <a:solidFill>
              <a:srgbClr val="BCC7C3"/>
            </a:solidFill>
            <a:prstDash val="solid"/>
          </a:ln>
        </p:spPr>
      </p:sp>
      <p:sp>
        <p:nvSpPr>
          <p:cNvPr id="13" name="matrix-engine-label">
            <a:extLst xmlns:a="http://schemas.openxmlformats.org/drawingml/2006/main">
              <a:ext uri="{FF2B5EF4-FFF2-40B4-BE49-F238E27FC236}">
                <a16:creationId xmlns:a16="http://schemas.microsoft.com/office/drawing/2014/main" id="{5F568A70-4DA4-483D-A7B7-E5375B6F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058" y="3467100"/>
            <a:ext cx="476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MATRIX ENGINE</a:t>
            </a:r>
          </a:p>
        </p:txBody>
      </p:sp>
      <p:sp>
        <p:nvSpPr>
          <p:cNvPr id="14" name="matrix-engine-title">
            <a:extLst xmlns:a="http://schemas.openxmlformats.org/drawingml/2006/main">
              <a:ext uri="{FF2B5EF4-FFF2-40B4-BE49-F238E27FC236}">
                <a16:creationId xmlns:a16="http://schemas.microsoft.com/office/drawing/2014/main" id="{2B80046E-7CE6-4F38-B4E9-A83F3EFE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058" y="381952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22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716"/>
                </a:solidFill>
                <a:latin typeface="Helvetica Neue"/>
                <a:ea typeface="Helvetica Neue"/>
                <a:cs typeface="Helvetica Neue"/>
              </a:rPr>
              <a:t>Many samples × few targets</a:t>
            </a:r>
          </a:p>
        </p:txBody>
      </p:sp>
      <p:sp>
        <p:nvSpPr>
          <p:cNvPr id="15" name="matrix-engine-detail">
            <a:extLst xmlns:a="http://schemas.openxmlformats.org/drawingml/2006/main">
              <a:ext uri="{FF2B5EF4-FFF2-40B4-BE49-F238E27FC236}">
                <a16:creationId xmlns:a16="http://schemas.microsoft.com/office/drawing/2014/main" id="{10FA5FC9-CE8F-4A2E-8D05-360B6249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058" y="4391025"/>
            <a:ext cx="4762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Aft>
                <a:spcPts val="0"/>
              </a:spcAft>
              <a:buNone/>
              <a:def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50605C"/>
                </a:solidFill>
                <a:latin typeface="Helvetica Neue"/>
                <a:ea typeface="Helvetica Neue"/>
                <a:cs typeface="Helvetica Neue"/>
              </a:rPr>
              <a:t>Reusable HDF5 store, vectorized CPU/GPU math, resumable pairs and appendable cohorts.</a:t>
            </a:r>
          </a:p>
        </p:txBody>
      </p:sp>
      <p:sp>
        <p:nvSpPr>
          <p:cNvPr id="16" name="overlap-caveat-panel">
            <a:extLst xmlns:a="http://schemas.openxmlformats.org/drawingml/2006/main">
              <a:ext uri="{FF2B5EF4-FFF2-40B4-BE49-F238E27FC236}">
                <a16:creationId xmlns:a16="http://schemas.microsoft.com/office/drawing/2014/main" id="{9B7B0A3D-F612-43E0-B51F-E1C22B4A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62600"/>
            <a:ext cx="11404568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E7E5"/>
          </a:solidFill>
          <a:ln xmlns:a="http://schemas.openxmlformats.org/drawingml/2006/main" w="9525">
            <a:solidFill>
              <a:srgbClr val="E8B5B2"/>
            </a:solidFill>
            <a:prstDash val="solid"/>
          </a:ln>
        </p:spPr>
      </p:sp>
      <p:sp>
        <p:nvSpPr>
          <p:cNvPr id="17" name="overlap-caveat-text">
            <a:extLst xmlns:a="http://schemas.openxmlformats.org/drawingml/2006/main">
              <a:ext uri="{FF2B5EF4-FFF2-40B4-BE49-F238E27FC236}">
                <a16:creationId xmlns:a16="http://schemas.microsoft.com/office/drawing/2014/main" id="{81EB3E61-673A-493C-946A-586900DE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05475"/>
            <a:ext cx="109251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7493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spcAft>
                <a:spcPts val="0"/>
              </a:spcAft>
              <a:buNone/>
              <a:defRPr sz="1600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rPr>
              <a:t>CURRENT LIMITATION  ·  Overlapping genes/ORFs do not yet have a resolved assignment policy; interpret gene-level summaries cautiously where annotations overlap.</a:t>
            </a:r>
          </a:p>
        </p:txBody>
      </p:sp>
    </p:spTree>
    <p:extLst>
      <p:ext uri="{BB962C8B-B14F-4D97-AF65-F5344CB8AC3E}">
        <p14:creationId xmlns:p14="http://schemas.microsoft.com/office/powerpoint/2010/main" val="1682285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2026-07-29T15:03:43.6720000Z</dcterms:created>
  <dcterms:modified xsi:type="dcterms:W3CDTF">2026-07-29T15:03:43.6720000Z</dcterms:modified>
</coreProperties>
</file>